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Plateforme IoT LoRaWAN Nationale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7900"/>
                </a:solidFill>
              </a:defRPr>
            </a:pPr>
            <a:r>
              <a:t>Souveraineté numérique · Smart metering · Opérations réseau · Intelligence artificielle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Sonatel · Orange IoT  |  LoRaWAN SaaS Platform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1. Contexte et opportunités marché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2. Enjeux stratégiques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3. Objectifs de la plateforme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4. Présentation de la solution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5. Fonctionnalités clés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6. Applications métier (eau intelligente)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7. Modèle économique et différenciation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8. Roadmap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Contexte &amp; opportunités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 marché IoT en forte accélération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7900"/>
                </a:solidFill>
              </a:defRPr>
            </a:pPr>
            <a:r>
              <a:t>Afrique de l'Ouest · Sénégal · 2025–2030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Explosion des cas d'usage LPWAN : comptage eau/énergie, agriculture, smart city, industrie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LoRaWAN : technologie ouverte, longue portée, faible consommation — idéale pour le Sénégal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Besoin croissant de connecter des millions de capteurs à faible coût (CAPEX et OPEX maîtrisés)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Digitalisation des utilities (eau, électricité) : télérelevé, vanne intelligente, détection de fuites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Pression réglementaire et environnementale : réduction des pertes en eau (NRW — Non-Revenue Water)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Opportunité pour un opérateur télécom de devenir acteur IoT vertical, au-delà de la connectivité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SUEZ — Vers un réseau LoRaWAN national 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SUEZ (leader mondial de l'eau) engage des discussions pour un déploiement LoRaWAN à l'échelle nationale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Objectif : télérelevé massif de compteurs intelligents, supervision des réseaux d'eau potable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Cas d'usage : index de consommation, commande de vannes à distance, détection précoce de fuites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Enjeu : couvrir les zones urbaines et périurbaines (Dakar, régions) avec un réseau unifié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Sonatel / Orange : position unique — infrastructure télécom + couverture nationale + data centers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La plateforme développée répond directement à ce besoin avec une solution eau prête (Shengda V1.6)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Coût des licences LNS propriétaires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Actility ThingPark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LNS cloud ou on-premise — référence marché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Licence par gateway et/ou par device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Coûts récurrents élevés à l'échelle nationale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Vendor lock-in — dépendance fournisseur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Personnalisation et apps métier limitées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Facturation opaque pour grands déploiements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Netmore · Loriot · autres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Modèles SaaS avec quotas devices/uplinks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Coût prohibitif au-delà de quelques milliers de devices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Peu adaptés au contexte africain (support, latence)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Pas de souveraineté des données sur le territoire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Intégration SI client complexe et coûteuse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Pas d'agent IA opérationnel natif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Programme New Deal — Souveraineté IoT nationale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L'État du Sénégal, via le programme New Deal Technologique, vise une plateforme IoT nationale souveraine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Objectif : réduire la dépendance aux solutions étrangères et maîtriser les données stratégiques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Alignement avec la stratégie numérique du Sénégal (SENEGEL 2025, smart cities, e-gov)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Interopérabilité avec les opérateurs, utilities et collectivités locales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Hébergement local des données (conformité, souveraineté, latence)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Sonatel comme partenaire naturel : réseau, expertise télécom, ancrage local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Autres éléments de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SENELEC / comptage énergie : même logique LPWAN que l'eau (télérelevé, supervision)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Smart cities : gestion des déchets, éclairage public, parking, qualité de l'air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Agriculture : capteurs sol/humidité, irrigation intelligente (rural LoRaWAN)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Industrie &amp; logistique : suivi actifs, chaîne du froid, maintenance prédictive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Région EU868 déjà opérationnelle — gateways déployées, devices OTAA en production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ChirpStack open-source (v4) : base éprouvée, évite 12–18 mois de R&amp;D Network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Enjeux &amp; objectifs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Enjeux stratégiques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Économiques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Éviter les licences LNS à coût prohibitif (Actility, Netmore…)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Modèle SaaS récurrent vs achat de licence par device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Time-to-market : déploiement en mois, pas en années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Réduction des pertes en eau = ROI direct pour les utilities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Nouvelle ligne de revenus IoT pour Sonatel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Techniques &amp; institutionnels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Souveraineté des données et hébergement local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Multi-tenant : un réseau, plusieurs clients (SUEZ, villes, industriels)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Scalabilité : de 100 à 1 M+ devices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Sécurité : IAM Keycloak, isolation tenant, API keys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Interopérabilité : webhooks, MQTT, MCP vers ERP/SCADA clients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Objectifs de la plateforme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Construire une plateforme IoT LoRaWAN SaaS cloud-native, propriété Sonatel / Orange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Offrir une alternative souveraine et économique aux LNS propriétaires (Actility, Netmore…)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Supporter un déploiement national de compteurs eau intelligents (SUEZ et autres utilities)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Répondre aux exigences du programme New Deal (plateforme IoT nationale)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Industrialiser les opérations réseau : NOC, anomalies, diagnostics IA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Accélérer l'onboarding client : wizard, agent IA, provisioning automatique multi-tenant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Monétiser via plans Starter / Pro / Enterprise avec metering et facturation intégrée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 plateforme LoRaWAN SaaS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Proposition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7900"/>
                </a:solidFill>
              </a:defRPr>
            </a:pPr>
            <a:r>
              <a:t>Sonatel · Orange IoT — LoRaWAN SaaS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Plateforme IoT LoRaWAN complète — de la gateway au dashboard métier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Basée sur ChirpStack v4 (open-source, mature) + couche SaaS propriétaire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Portail web style Orange Live Objects — expérience opérateur professionnelle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Agent IA opérationnel (MCP) : provisioning et diagnostics en langage naturel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Application eau Shengda intégrée : compteurs, vannes, fuites, jumeau numérique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Déploiement Docker — VM Ubuntu, cloud ou on-premise au Sénégal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Multi-tenant natif : un infrastructure, plusieurs clients isolés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de la plateforme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7772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4475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Console Web (Next.js)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55648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Portail Orange Live Objects — devices, NOC, analytics, agent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48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7900"/>
                </a:solidFill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31720"/>
            <a:ext cx="91440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40487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Platform API (Go)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15768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Multi-tenant, proxy ChirpStack, billing, règles, apps métier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108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7900"/>
                </a:solidFill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291839"/>
            <a:ext cx="91440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364991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ChirpStack v4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75887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Network Server LoRaWAN — NS, Join Server, Application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069079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7900"/>
                </a:solidFill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51959"/>
            <a:ext cx="91440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325112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Ingestion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36007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MQTT → TimescaleDB + MinIO + NATS (rules, connecteurs)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029199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7900"/>
                </a:solidFill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212079"/>
            <a:ext cx="91440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285231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Agent IA (MCP)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596127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~25 outils — provisioning, diagnostics, compteurs eau en langage naturel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Stack : Keycloak (IAM) · Redis · NATS · MinIO · Stripe · Déploiement Docker — EU868, OTAA, Class A/B/C, FUOTA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Fonctionnalités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Gestion du réseau LoRaWAN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Applications, device profiles, devices OTAA (DevEUI, JoinEUI, AppKey)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Gateways : CRUD, GPS, statut online/offline, last seen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Région EU868 — Packet Forwarder UDP :1700, Basics Station TLS :3001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Downlink : queue, fPort, confirmé/non confirmé, commandes vanne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Événements device : uplink, join, ack — intégration ChirpStack temps réel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RF Scan gateway : analyse spectre, détection interférences et pollueurs RF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Provisioning automatique tenant ChirpStack à la création client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Data, analytics &amp; intégrations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Ingestion MQTT temps réel → TimescaleDB (RSSI, SNR, DR, historique uplinks)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Data Messages : historique payloads, décodage hex, filtres par device/application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Decoders JavaScript ChirpStack — codec Shengda V1.6 intégré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Analytics : trafic 24h, devices/gateways actifs, RSSI moyen, graphiques horaires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Archivage payloads MinIO — téléchargement et traçabilité long terme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Connecteurs sortants : HTTP webhook, MQTT/MQTTS, MCP bidirectionnel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Règles IF/THEN : alertes automatiques sur RSSI, SNR, conditions métier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Supervision &amp;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NOC &amp;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Tableau de bord NOC style Datadog (refresh 30s)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KPI : uplinks, devices actifs, gateways, RSSI moyen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Alertes règles et billing en temps réel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Détection anomalies : devices silencieux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Signal faible, SNR dégradé, pics de trafic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Dashboards personnalisables par sélection de devices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Agent IA (MCP)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Chat en français — console web intégrée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« Liste les gateways », « Crée un device », « Diagnostique le réseau »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~25 outils MCP : ChirpStack + compteurs eau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LLM local Ollama (CPU) ou OpenAI — mode hybride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Intégration Cursor IDE pour les équipes techniques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Réduction drastique du temps d'onboarding et du support N1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Administration, sécurité &amp; multi-tenancy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IAM Keycloak — realm lorawan : platform-admin, tenant-admin, operator, viewer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Isolation tenant : JWT tenant_id + mapping ChirpStack automatique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API keys par tenant (lwp_*) — scopes read/write pour intégrations SI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Gestion tenants : création, suspension, suppression, membres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Billing intégré : metering uplinks/devices/gateways, plans Starter/Pro/Enterprise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Stripe Checkout pour upgrade self-service (roadmap Phase 3)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FUOTA : mise à jour firmware over-the-air (multicast EU868, Class 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Applications métier — Eau intelligente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Shengda — Compteurs eau intelligents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Protocole Application Layer V1.6 — codec ChirpStack natif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Télérelevé : index m³, impulsions, batterie (V), état vanne, alarmes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Commandes downlink : ouvrir / fermer / débourrer vanne, télérelevé forcé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Paramétrage : intervalle de rapport (600 s – 24 h), heure de début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Payload applicatif : 22 octets — trame LoRaWAN ~35 octets (DR5, confirmed)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Historique relevés décodés + suivi commandes (pending / sent / ack)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Production : device 8254812510001415 — uplinks toutes les 4 h, index 275,99 m³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Jumeau numérique &amp; détection de fuites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Jumeau numérique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Visualisation compteur + gateway LoRaWAN (topologie réseau)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Mode Simulation vs Live réseau (données ChirpStack temps réel)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Métriques : RSSI, SNR, DR, débit (m³/h), batterie, vanne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Santé device : nominal, fuite probable, attaque magnétique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Commandes vanne depuis le jumeau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Lien direct vers alertes fuites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Détection de fuites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device_flow_alarm — alarme débit compteur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flow_with_valve_closed — débit vanne fermée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high_continuous_flow — débit continu élevé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night_flow — consommation nocturne anormale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flow_overload — surcharge débit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Résumé : actives, critiques, warnings — résolution manuelle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Modèle économique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Différenciation vs LNS propriétaires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Coût maîtrisé : open-source ChirpStack + stack propriétaire — pas de licence par device/gateway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Souveraineté : code et données hébergés au Sénégal, personnalisation illimitée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Vertical eau intégré : Shengda, fuites, jumeau — pas de développement client séparé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IA opérationnelle native : agent MCP — aucun concurrent LNS ne l'offre en standard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Multi-tenant SaaS : onboarding client en minutes (vs semaines chez Actility/Netmore)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Extensibilité : decoders JS, rules, webhooks, MQTT, MCP — intégration SI flexible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Time-to-market : plateforme opérationnelle aujourd'hui — Phases 0 à 2.5 livrées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Conformité vs Actility / ThingPark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CCCCCC"/>
                </a:solidFill>
              </a:defRPr>
            </a:pPr>
            <a:r>
              <a:t>Référentiel industriel LNS — état actuel de la plateforme Sonatel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8778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3200400"/>
                <a:gridCol w="1097280"/>
              </a:tblGrid>
              <a:tr h="4076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Domaine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Exigence Actility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Plateforme Sonatel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LNS redondant multi-sites (2–3)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Requis industriel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Mono-VM 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392B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VPN gateway ↔ LNS + PKI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Obligatoire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UDP :1700 ouvert en prod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392B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HSM / clés FIPS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Recommandé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Clés ChirpStack, pas de HSM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392B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Routage + decoders par route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Connectors ThingPark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Connecteurs HTTP/MQTT/MCP + codecs JS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B7D3A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Connecteurs HA primaire/secondaire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Requis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Un connecteur par 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67E22"/>
                          </a:solidFill>
                        </a:defRPr>
                      </a:pPr>
                      <a:r>
                        <a:t>Partiel</a:t>
                      </a:r>
                    </a:p>
                  </a:txBody>
                  <a:tcPr/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ADR (Adaptive Data Rate)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Recommandé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ChirpStack ADR activé (DR5/SF7)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B7D3A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Supervision NOC +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Requis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NOC, anomalies, RF Scan, agent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B7D3A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/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FUOTA + commissioning ICS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Requis à l'échelle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FUOTA Phase 3, pas d'ICS centralisé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67E22"/>
                          </a:solidFill>
                        </a:defRPr>
                      </a:pPr>
                      <a:r>
                        <a:t>Partiel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Peering / NetID LoRa Alliance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Réseau 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Non configuré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392B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Migration export/import clés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Labo → national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Possible ChirpStack, non automatisé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67E22"/>
                          </a:solidFill>
                        </a:defRPr>
                      </a:pPr>
                      <a:r>
                        <a:t>Partiel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Reprise progressive (packet storm)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Industriel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Non implémenté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392B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60807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7900"/>
                </a:solidFill>
              </a:defRPr>
            </a:pPr>
            <a:r>
              <a:t>Verdict : prêt pour pilote (centaines de devices) · gaps infrastructure pour déploiement national (VPN, HA, HSM, peering) — Phase 4 roadmap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Offre commerciale (plans SaaS)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Starter — 49 €/mois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50 devices · 5 gateways · 100K uplinks/mois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Analytics, rules, NOC, agent IA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Intégrations HTTP/MQTT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Idéal : POC, pilotes utilities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3E6"/>
          </a:solidFill>
          <a:ln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900"/>
                </a:solidFill>
              </a:defRPr>
            </a:pPr>
            <a:r>
              <a:t>Pro /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Pro — 199 €/mois : 500 devices, FUOTA, anomalies ML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Enterprise — 999 €/mois : 10 000 devices, API keys, support prioritaire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Facturation à l'usage : metering uplinks/devices/gateways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Modèle scalable pour déploiement national SUEZ / New Deal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Roadmap &amp; conclusion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0 ✅ — ChirpStack + Platform API + Agent MCP + Console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1 ✅ — Ingestion MQTT → TimescaleDB + Rule Engine + Analytics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2 ✅ — IAM Keycloak, NOC, billing metering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2.5 ✅ — Provisioning auto tenant, API keys, suspend/delete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3 🔜 — Stripe, invitations email, anomalies ML avancées, FUOTA production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4 — Déploiement national : redondance, HA, millions de devices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Phase 5 — Nouvelles verticales : énergie (SENELEC), agriculture, smart city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Pilote SUEZ : déploiement compteurs eau sur zone test (Dakar / région)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Alignement programme New Deal : cadrage gouvernance plateforme IoT nationale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Dimensionnement réseau national : gateways, airtime, duty cycle EU868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Certification et SLA : engagement disponibilité plateforme production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Formation équipes opérations Sonatel (NOC, agent IA, support client)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Démonstration live : console, jumeau numérique, détection fuites, agent 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7900"/>
                </a:solidFill>
              </a:defRPr>
            </a:pPr>
            <a:r>
              <a:t>Plateforme IoT LoRaWAN — Souveraine · Scalable · Intelligente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Sonatel · Orange IoT  |  LoRaWAN SaaS Platform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